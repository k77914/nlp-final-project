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3cac6af3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13cac6af3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3cac6af3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13cac6af3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3cac6af3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13cac6af3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3cac6af3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13cac6af3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3cac6af3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13cac6af3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3cac6af33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13cac6af33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3cac6af33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13cac6af33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3cac6af33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13cac6af3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3cac6af33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13cac6af3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3cac6af33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13cac6af33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build.nvidia.com/nvidia/llm-rout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kaggle.com/t/88ea075a63894537a1810b4ad0dbba3a" TargetMode="External"/><Relationship Id="rId4" Type="http://schemas.openxmlformats.org/officeDocument/2006/relationships/hyperlink" Target="https://docs.google.com/spreadsheets/d/1_speAI_0UilrfPgHOKxcu_sVHExZeLdYjGrB5D3QPlc/edit?usp=sharing" TargetMode="External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0450" y="511625"/>
            <a:ext cx="8123100" cy="22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9"/>
              <a:buFont typeface="Calibri"/>
              <a:buNone/>
            </a:pPr>
            <a:r>
              <a:rPr lang="zh-TW" sz="2600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2026 Spring</a:t>
            </a:r>
            <a:endParaRPr sz="2600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9"/>
              <a:buFont typeface="Calibri"/>
              <a:buNone/>
            </a:pPr>
            <a:r>
              <a:rPr b="1" lang="zh-TW" sz="2600">
                <a:latin typeface="Calibri"/>
                <a:ea typeface="Calibri"/>
                <a:cs typeface="Calibri"/>
                <a:sym typeface="Calibri"/>
              </a:rPr>
              <a:t>Introduction to Natural Language Processing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zh-TW" sz="26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Final Project: LLM Routing</a:t>
            </a:r>
            <a:endParaRPr b="1" sz="26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43000" y="2896675"/>
            <a:ext cx="68580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TA: 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Yu-Chien Tang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tommytyc.cs13@nycu.edu.tw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Task 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LLM Routing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73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In real-world LLM applications, routing queries to the right model can save massive amounts of compute while maintaining high user satisfaction.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073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For complex reasoning tasks, you might want to route to a highly capable but expensive model. For simple informational queries, a smaller, cheaper model might suffice.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073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Given a user query, your router must dynamically select the most appropriate model from a pool of 11 candidate models.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There is </a:t>
            </a:r>
            <a:r>
              <a:rPr lang="zh-TW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 limit to the method you can use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. Feel free to employ any method you prefer to build the router or process the data.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171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Requirement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73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Upload your submission to Kaggle.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Submit a report and your source code to E3.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2500"/>
              <a:buNone/>
            </a:pPr>
            <a:br>
              <a:rPr lang="zh-TW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2500"/>
              <a:buNone/>
            </a:pPr>
            <a:r>
              <a:rPr lang="zh-TW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Deadline is 06/26 (Friday) 23:59, no late submission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8500" y="3431850"/>
            <a:ext cx="572701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4125" y="3431850"/>
            <a:ext cx="572701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9750" y="3431850"/>
            <a:ext cx="572699" cy="5726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6320075" y="4082525"/>
            <a:ext cx="1720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good router can save your claude code opus 4.6 quota!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 variety of queries and the corresponding performance and cost for 11 different LLMs.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Final Project Dataset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train.csv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test.csv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sample_submission.csv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071" y="1875775"/>
            <a:ext cx="3213373" cy="2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6335213" y="4082525"/>
            <a:ext cx="106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zh-TW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nvidia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Data 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train.csv: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 Contains the ID, the text query, and the ground-truth performance (0.0 to 1.0) and cost for each of the 11 candidate models.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test.csv: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 Contains only the ID and the text query. You must predict the best model to route to for these queries.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sample_submission.csv: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 A sample submission file showing the correct format.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Your task is to build a routing mechanism, whether it's a lightweight machine learning classifier, a similarity-based KNN router, or an LLM-as-a-Judge, to predict the optimal pred_model for each query in the test set.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Kaggle Submission Format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You are expected to 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determine which model is the best choice to answer each query in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 test set, and then upload your routing decision to Kaggle. Note that your routing decision of each query can be different. The submission format should be: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 2551*2 .csv file, first row for column name and the last 2550 rows for your routing decision (</a:t>
            </a:r>
            <a:r>
              <a:rPr lang="zh-TW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Model_A or Model_B or … or Model_K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First row must match the one shown in the sample_submission.csv. Make sure the order is correct!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750" y="3344363"/>
            <a:ext cx="17145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zh-TW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Kaggle link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zh-TW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join the kaggle challenge via your E3 email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zh-TW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Change the </a:t>
            </a:r>
            <a:r>
              <a:rPr lang="zh-TW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team name into your Team ID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 (Team_1, Team_13, etc.) and merge the team with your team 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zh-TW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Team ID and Team member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There’ll be a simple baseline and a strong baseline. Beat them to get higher score.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The scoring metric is </a:t>
            </a:r>
            <a:r>
              <a:rPr lang="zh-TW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Reward_{0.85}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 The higher reward the better.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Check the definition of Reward in the kaggle challenge page.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You can submit </a:t>
            </a:r>
            <a:r>
              <a:rPr lang="zh-TW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at most 3 times each day</a:t>
            </a:r>
            <a:r>
              <a:rPr lang="zh-TW" sz="1700">
                <a:latin typeface="Calibri"/>
                <a:ea typeface="Calibri"/>
                <a:cs typeface="Calibri"/>
                <a:sym typeface="Calibri"/>
              </a:rPr>
              <a:t> and choose 2 of the submissions to be considered for the private leaderboard.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Kaggle Submission (70%)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945" y="3969075"/>
            <a:ext cx="5636126" cy="104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Report Submission (30%)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Answer the following 3 questions 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Describe how you implement your router, including your choice of packages, router framework, loss functions, hyperparameters, etc.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How do you balance the performance and cost of your routing decision? Describe the detailed design intuition and motivation of your LLM router.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Compare all the methods you have tried and use a table to display their respective performances. Which method performed the best, and why?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Please answer the questions in detail to get the full point of each question.</a:t>
            </a:r>
            <a:endParaRPr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Grading policy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Kaggle (70%)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30% based on the public leaderboard score and 70% based on the private leaderboard score. Both public and private board are the 50% split of test set.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Basic score 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Over strong baseline : 55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Over simple bassline : 40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Under simple baseline : 25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Ranking score:</a:t>
            </a:r>
            <a:br>
              <a:rPr lang="zh-TW" sz="1600">
                <a:latin typeface="Calibri"/>
                <a:ea typeface="Calibri"/>
                <a:cs typeface="Calibri"/>
                <a:sym typeface="Calibri"/>
              </a:rPr>
            </a:b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	15-(15/N)*(ranking-1), N=numbers of people in the interval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Report (30%)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10% for each quesiton</a:t>
            </a:r>
            <a:endParaRPr sz="13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You will receive 0 points if you do not submit the source code.</a:t>
            </a:r>
            <a:endParaRPr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>
                <a:latin typeface="Calibri"/>
                <a:ea typeface="Calibri"/>
                <a:cs typeface="Calibri"/>
                <a:sym typeface="Calibri"/>
              </a:rPr>
              <a:t>E3 Submission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zh-TW" sz="1900">
                <a:latin typeface="Calibri"/>
                <a:ea typeface="Calibri"/>
                <a:cs typeface="Calibri"/>
                <a:sym typeface="Calibri"/>
              </a:rPr>
              <a:t>Submit your source code and report to E3 before 06/26 (Friday) 23:59.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zh-TW" sz="19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Choose a team lead to make submission on E3. </a:t>
            </a:r>
            <a:br>
              <a:rPr lang="zh-TW" sz="19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9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format error will cause -5 final project score!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Format</a:t>
            </a:r>
            <a:r>
              <a:rPr lang="zh-TW"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FinalProject_&lt;Team ID&gt;.zip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source code: 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FinalProject_&lt;Team ID&gt;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.py  or  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FinalProject_&lt;Team ID&gt;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.ipynb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report: 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FinalProject_&lt;Team ID&gt;</a:t>
            </a: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.pdf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zh-TW" sz="1691">
                <a:latin typeface="Calibri"/>
                <a:ea typeface="Calibri"/>
                <a:cs typeface="Calibri"/>
                <a:sym typeface="Calibri"/>
              </a:rPr>
              <a:t>Feel free to contact TA Yu-Chien i</a:t>
            </a:r>
            <a:r>
              <a:rPr lang="zh-TW" sz="1691">
                <a:latin typeface="Calibri"/>
                <a:ea typeface="Calibri"/>
                <a:cs typeface="Calibri"/>
                <a:sym typeface="Calibri"/>
              </a:rPr>
              <a:t>f you have any question about Final Project.</a:t>
            </a:r>
            <a:endParaRPr sz="169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lang="zh-TW" sz="169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mail: tommytyc.cs13</a:t>
            </a:r>
            <a:r>
              <a:rPr lang="zh-TW" sz="169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@nycu.edu.tw</a:t>
            </a:r>
            <a:endParaRPr sz="1691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853150" y="2256150"/>
            <a:ext cx="1989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zh-TW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Fun !</a:t>
            </a:r>
            <a:endParaRPr b="1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750" y="65900"/>
            <a:ext cx="387210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